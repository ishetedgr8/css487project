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Oswald SemiBold"/>
      <p:regular r:id="rId27"/>
      <p:bold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OswaldSemiBold-bold.fntdata"/><Relationship Id="rId27" Type="http://schemas.openxmlformats.org/officeDocument/2006/relationships/font" Target="fonts/Oswald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Manish</a:t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cc2e2a02c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cc2e2a02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Ishaan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cc2e2a02c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cc2e2a02c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Ishaan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Ishaan</a:t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Ishaan</a:t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Ishaan</a:t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We implemented a lightweight template-based text reader.  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It uses thresholding and OpenCV template matching to recognize common traffic sign numbers or keywords.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Start From A Detected Sign Box and crop it 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Clean any noise 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Find Dark Text Pixels and </a:t>
            </a: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thresholds BGR to HSV. for eg: black digits on speed signs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findContours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Normalize and then compare with template 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Convert Image To HSV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Create Color Masks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Check If The Shape Looks Like A Bulb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The code checks if the candidate is circular using: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57142"/>
              </a:lnSpc>
              <a:spcBef>
                <a:spcPts val="800"/>
              </a:spcBef>
              <a:spcAft>
                <a:spcPts val="0"/>
              </a:spcAft>
              <a:buClr>
                <a:srgbClr val="1A1C1F"/>
              </a:buClr>
              <a:buSzPts val="1050"/>
              <a:buChar char="●"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contour area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A1C1F"/>
              </a:buClr>
              <a:buSzPts val="1050"/>
              <a:buChar char="●"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perimeter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A1C1F"/>
              </a:buClr>
              <a:buSzPts val="1050"/>
              <a:buChar char="●"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circularity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A1C1F"/>
              </a:buClr>
              <a:buSzPts val="1050"/>
              <a:buChar char="●"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bounding box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A1C1F"/>
              </a:buClr>
              <a:buSzPts val="1050"/>
              <a:buChar char="●"/>
            </a:pPr>
            <a:r>
              <a:rPr lang="en-US" sz="1050">
                <a:solidFill>
                  <a:srgbClr val="1A1C1F"/>
                </a:solidFill>
                <a:highlight>
                  <a:srgbClr val="FFFFFF"/>
                </a:highlight>
              </a:rPr>
              <a:t>Hough circle detection</a:t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F"/>
              </a:solidFill>
              <a:highlight>
                <a:srgbClr val="FFFFFF"/>
              </a:highlight>
            </a:endParaRPr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Ishaan</a:t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ccf3438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Ishaan</a:t>
            </a:r>
            <a:endParaRPr/>
          </a:p>
        </p:txBody>
      </p:sp>
      <p:sp>
        <p:nvSpPr>
          <p:cNvPr id="233" name="Google Shape;233;g3eccf3438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cc2e2a02c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Manish</a:t>
            </a:r>
            <a:endParaRPr/>
          </a:p>
        </p:txBody>
      </p:sp>
      <p:sp>
        <p:nvSpPr>
          <p:cNvPr id="238" name="Google Shape;238;g3ecc2e2a02c_0_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81f1f68d8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81f1f68d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Manish</a:t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Manish</a:t>
            </a:r>
            <a:endParaRPr/>
          </a:p>
        </p:txBody>
      </p:sp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Manish</a:t>
            </a:r>
            <a:endParaRPr/>
          </a:p>
        </p:txBody>
      </p:sp>
      <p:sp>
        <p:nvSpPr>
          <p:cNvPr id="347" name="Google Shape;3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c2e2a02c_8_0)">
  <p:cSld name="Generated (g3ecc2e2a02c_8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image" Target="../media/image2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image" Target="../media/image2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4.jp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3.jpg"/><Relationship Id="rId7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2.jp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38.jp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jpg"/><Relationship Id="rId10" Type="http://schemas.openxmlformats.org/officeDocument/2006/relationships/image" Target="../media/image28.jp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44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Uig6FKtpwNzYsFzHmvF0-xYncgIvlynl/view" TargetMode="External"/><Relationship Id="rId4" Type="http://schemas.openxmlformats.org/officeDocument/2006/relationships/image" Target="../media/image2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44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H9QNIhQZ7ryX99pUrlB7kmUcKPL4XndG/view" TargetMode="External"/><Relationship Id="rId4" Type="http://schemas.openxmlformats.org/officeDocument/2006/relationships/image" Target="../media/image3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45.png"/><Relationship Id="rId5" Type="http://schemas.openxmlformats.org/officeDocument/2006/relationships/image" Target="../media/image31.png"/><Relationship Id="rId6" Type="http://schemas.openxmlformats.org/officeDocument/2006/relationships/image" Target="../media/image43.png"/><Relationship Id="rId7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9" Type="http://schemas.openxmlformats.org/officeDocument/2006/relationships/image" Target="../media/image46.png"/><Relationship Id="rId5" Type="http://schemas.openxmlformats.org/officeDocument/2006/relationships/image" Target="../media/image42.png"/><Relationship Id="rId6" Type="http://schemas.openxmlformats.org/officeDocument/2006/relationships/image" Target="../media/image37.png"/><Relationship Id="rId7" Type="http://schemas.openxmlformats.org/officeDocument/2006/relationships/image" Target="../media/image36.png"/><Relationship Id="rId8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Relationship Id="rId6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2125" y="1281112"/>
            <a:ext cx="8667750" cy="429562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2162175" y="1681162"/>
            <a:ext cx="78676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CSS 497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1965483" y="2237333"/>
            <a:ext cx="8261032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FC107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ROAD SIGN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25" u="none" cap="none" strike="noStrike">
                <a:solidFill>
                  <a:srgbClr val="FFC107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TRAFFIC LIGHT DETECTION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2162175" y="4637633"/>
            <a:ext cx="7867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</a:t>
            </a:r>
            <a:r>
              <a:rPr b="1" lang="en-US" sz="1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y</a:t>
            </a:r>
            <a:r>
              <a:rPr b="1" i="0" lang="en-US" sz="19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lang="en-US" sz="1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Ishaan</a:t>
            </a:r>
            <a:r>
              <a:rPr b="1" i="0" lang="en-US" sz="19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&amp; </a:t>
            </a:r>
            <a:r>
              <a:rPr b="1" lang="en-US" sz="1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Manish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00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PROJECT </a:t>
            </a:r>
            <a:r>
              <a:rPr b="0" lang="en-US" sz="4800">
                <a:solidFill>
                  <a:srgbClr val="FFC107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OVERVIEW</a:t>
            </a:r>
            <a:endParaRPr b="0" sz="4800">
              <a:solidFill>
                <a:srgbClr val="FFFFFF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609600" y="1752600"/>
            <a:ext cx="10972800" cy="28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5"/>
          <p:cNvGrpSpPr/>
          <p:nvPr/>
        </p:nvGrpSpPr>
        <p:grpSpPr>
          <a:xfrm>
            <a:off x="609600" y="2095500"/>
            <a:ext cx="5334000" cy="3810000"/>
            <a:chOff x="609600" y="2095500"/>
            <a:chExt cx="5334000" cy="3810000"/>
          </a:xfrm>
        </p:grpSpPr>
        <p:sp>
          <p:nvSpPr>
            <p:cNvPr id="99" name="Google Shape;99;p15"/>
            <p:cNvSpPr/>
            <p:nvPr/>
          </p:nvSpPr>
          <p:spPr>
            <a:xfrm>
              <a:off x="609600" y="2095500"/>
              <a:ext cx="5334000" cy="3810000"/>
            </a:xfrm>
            <a:prstGeom prst="roundRect">
              <a:avLst>
                <a:gd fmla="val 3000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inematic, high-resolution front-facing view from a vehicle's dashboard camera driving through a modern city intersection, highlighting bright green traffic lights and clear regulatory road signs. The style should be realistic and tech-focused with a slight dark aesthetic." id="100" name="Google Shape;100;p15"/>
            <p:cNvPicPr preferRelativeResize="0"/>
            <p:nvPr/>
          </p:nvPicPr>
          <p:blipFill rotWithShape="1">
            <a:blip r:embed="rId5">
              <a:alphaModFix/>
            </a:blip>
            <a:srcRect b="2381" l="0" r="0" t="2381"/>
            <a:stretch/>
          </p:blipFill>
          <p:spPr>
            <a:xfrm>
              <a:off x="609600" y="2095500"/>
              <a:ext cx="5334000" cy="3810000"/>
            </a:xfrm>
            <a:prstGeom prst="roundRect">
              <a:avLst>
                <a:gd fmla="val 3000" name="adj"/>
              </a:avLst>
            </a:prstGeom>
            <a:noFill/>
            <a:ln>
              <a:noFill/>
            </a:ln>
          </p:spPr>
        </p:pic>
        <p:sp>
          <p:nvSpPr>
            <p:cNvPr id="101" name="Google Shape;101;p15"/>
            <p:cNvSpPr/>
            <p:nvPr/>
          </p:nvSpPr>
          <p:spPr>
            <a:xfrm>
              <a:off x="609600" y="2095500"/>
              <a:ext cx="5334000" cy="3810000"/>
            </a:xfrm>
            <a:prstGeom prst="roundRect">
              <a:avLst>
                <a:gd fmla="val 3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FC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6477000" y="2095500"/>
            <a:ext cx="5105400" cy="3810150"/>
            <a:chOff x="6477000" y="2095500"/>
            <a:chExt cx="5105400" cy="3810150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6477000" y="2095500"/>
              <a:ext cx="510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FFC107"/>
                  </a:solidFill>
                  <a:latin typeface="Oswald"/>
                  <a:ea typeface="Oswald"/>
                  <a:cs typeface="Oswald"/>
                  <a:sym typeface="Oswald"/>
                </a:rPr>
                <a:t>Introduction</a:t>
              </a:r>
              <a:endParaRPr b="0" sz="24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6477000" y="2524125"/>
              <a:ext cx="5105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8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This project focuses on a classical computer vision approach to detect and classify traffic signals and road signs in real-time. Built strictly in C++ with OpenCV, the system avoids "black box" models in favor of explainable geometric and color-based logic.</a:t>
              </a:r>
              <a:endParaRPr b="0" sz="148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477000" y="3857625"/>
              <a:ext cx="5105400" cy="9600"/>
            </a:xfrm>
            <a:prstGeom prst="rect">
              <a:avLst/>
            </a:prstGeom>
            <a:solidFill>
              <a:srgbClr val="44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6477000" y="4048125"/>
              <a:ext cx="510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FFC107"/>
                  </a:solidFill>
                  <a:latin typeface="Oswald"/>
                  <a:ea typeface="Oswald"/>
                  <a:cs typeface="Oswald"/>
                  <a:sym typeface="Oswald"/>
                </a:rPr>
                <a:t>Key Applications</a:t>
              </a:r>
              <a:endParaRPr b="0" sz="24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6477000" y="4476750"/>
              <a:ext cx="51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8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en-US" sz="148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Autonomous Vehicles:</a:t>
              </a:r>
              <a:r>
                <a:rPr b="0" lang="en-US" sz="148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Core navigation and safety protocols.</a:t>
              </a:r>
              <a:endParaRPr b="0" sz="148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8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en-US" sz="148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ADAS Systems:</a:t>
              </a:r>
              <a:r>
                <a:rPr b="0" lang="en-US" sz="148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Driver assistance for speed and signal alerts.</a:t>
              </a:r>
              <a:endParaRPr b="0" sz="148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8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en-US" sz="148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Smart City Infrastructure:</a:t>
              </a:r>
              <a:r>
                <a:rPr b="0" lang="en-US" sz="148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Real-time traffic flow monitoring.</a:t>
              </a:r>
              <a:endParaRPr b="0" sz="148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609600" y="6096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PROJECT </a:t>
            </a:r>
            <a:r>
              <a:rPr b="0" lang="en-US" sz="3600">
                <a:solidFill>
                  <a:srgbClr val="FFC107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GOALS &amp; OBJECTIVES</a:t>
            </a:r>
            <a:endParaRPr b="0" sz="3600">
              <a:solidFill>
                <a:srgbClr val="FFFFFF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609600" y="1381125"/>
            <a:ext cx="10972800" cy="28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16"/>
          <p:cNvGrpSpPr/>
          <p:nvPr/>
        </p:nvGrpSpPr>
        <p:grpSpPr>
          <a:xfrm>
            <a:off x="609600" y="1809750"/>
            <a:ext cx="5334000" cy="4381500"/>
            <a:chOff x="609600" y="1809750"/>
            <a:chExt cx="5334000" cy="4381500"/>
          </a:xfrm>
        </p:grpSpPr>
        <p:sp>
          <p:nvSpPr>
            <p:cNvPr id="116" name="Google Shape;116;p16"/>
            <p:cNvSpPr/>
            <p:nvPr/>
          </p:nvSpPr>
          <p:spPr>
            <a:xfrm>
              <a:off x="609600" y="1809750"/>
              <a:ext cx="5334000" cy="4381500"/>
            </a:xfrm>
            <a:prstGeom prst="roundRect">
              <a:avLst>
                <a:gd fmla="val 2608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futuristic, high-tech digital overlay on a city street scene. Glowing bounding boxes surround traffic lights and stop signs. The aesthetic is clean, dark, and analytical, consistent with a computer vision project." id="117" name="Google Shape;117;p16"/>
            <p:cNvPicPr preferRelativeResize="0"/>
            <p:nvPr/>
          </p:nvPicPr>
          <p:blipFill rotWithShape="1">
            <a:blip r:embed="rId5">
              <a:alphaModFix/>
            </a:blip>
            <a:srcRect b="0" l="778" r="787" t="0"/>
            <a:stretch/>
          </p:blipFill>
          <p:spPr>
            <a:xfrm>
              <a:off x="609600" y="1809750"/>
              <a:ext cx="5334000" cy="3048000"/>
            </a:xfrm>
            <a:prstGeom prst="roundRect">
              <a:avLst>
                <a:gd fmla="val 3750" name="adj"/>
              </a:avLst>
            </a:prstGeom>
            <a:noFill/>
            <a:ln>
              <a:noFill/>
            </a:ln>
          </p:spPr>
        </p:pic>
        <p:sp>
          <p:nvSpPr>
            <p:cNvPr id="118" name="Google Shape;118;p16"/>
            <p:cNvSpPr/>
            <p:nvPr/>
          </p:nvSpPr>
          <p:spPr>
            <a:xfrm>
              <a:off x="609600" y="1809750"/>
              <a:ext cx="5334000" cy="3048000"/>
            </a:xfrm>
            <a:prstGeom prst="roundRect">
              <a:avLst>
                <a:gd fmla="val 375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FC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895350" y="504825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Our primary objective is to engineer a robust, real-time detection pipeline that translates raw visual data into precise environmental awareness.</a:t>
              </a:r>
              <a:endParaRPr b="0" sz="15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6248400" y="1809750"/>
            <a:ext cx="5334000" cy="2047800"/>
            <a:chOff x="6248400" y="1809750"/>
            <a:chExt cx="5334000" cy="2047800"/>
          </a:xfrm>
        </p:grpSpPr>
        <p:sp>
          <p:nvSpPr>
            <p:cNvPr id="121" name="Google Shape;121;p16"/>
            <p:cNvSpPr/>
            <p:nvPr/>
          </p:nvSpPr>
          <p:spPr>
            <a:xfrm>
              <a:off x="6248400" y="1809750"/>
              <a:ext cx="5334000" cy="2047800"/>
            </a:xfrm>
            <a:prstGeom prst="roundRect">
              <a:avLst>
                <a:gd fmla="val 5581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6534150" y="20002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C107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THE TARGET METRIC</a:t>
              </a:r>
              <a:endParaRPr b="0" sz="1800">
                <a:solidFill>
                  <a:srgbClr val="FFC107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6534150" y="238125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400">
                  <a:solidFill>
                    <a:srgbClr val="FFC107"/>
                  </a:solidFill>
                  <a:latin typeface="Oswald"/>
                  <a:ea typeface="Oswald"/>
                  <a:cs typeface="Oswald"/>
                  <a:sym typeface="Oswald"/>
                </a:rPr>
                <a:t>92%</a:t>
              </a:r>
              <a:endParaRPr b="1" sz="64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8915400" y="238125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Detection</a:t>
              </a:r>
              <a:br>
                <a:rPr b="0" lang="en-US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</a:br>
              <a:r>
                <a:rPr b="0" lang="en-US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Accuracy</a:t>
              </a:r>
              <a:endParaRPr b="0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6248400" y="4143375"/>
            <a:ext cx="5334000" cy="2047800"/>
            <a:chOff x="6248400" y="4143375"/>
            <a:chExt cx="5334000" cy="2047800"/>
          </a:xfrm>
        </p:grpSpPr>
        <p:sp>
          <p:nvSpPr>
            <p:cNvPr id="126" name="Google Shape;126;p16"/>
            <p:cNvSpPr/>
            <p:nvPr/>
          </p:nvSpPr>
          <p:spPr>
            <a:xfrm>
              <a:off x="6248400" y="4143375"/>
              <a:ext cx="5334000" cy="2047800"/>
            </a:xfrm>
            <a:prstGeom prst="roundRect">
              <a:avLst>
                <a:gd fmla="val 5581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6534150" y="433387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C107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CORE MILESTONES</a:t>
              </a:r>
              <a:endParaRPr b="0" sz="1800">
                <a:solidFill>
                  <a:srgbClr val="FFC107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6534150" y="4714875"/>
              <a:ext cx="4762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0E0E0"/>
                </a:buClr>
                <a:buSzPts val="1500"/>
                <a:buFont typeface="Roboto"/>
                <a:buChar char="●"/>
              </a:pPr>
              <a:r>
                <a:rPr b="0" lang="en-US" sz="15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Reliable classification of 10+ sign types</a:t>
              </a:r>
              <a:endParaRPr b="0" sz="15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0E0E0"/>
                </a:buClr>
                <a:buSzPts val="1500"/>
                <a:buFont typeface="Roboto"/>
                <a:buChar char="●"/>
              </a:pPr>
              <a:r>
                <a:rPr b="0" lang="en-US" sz="15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Sub-50ms processing latency per frame</a:t>
              </a:r>
              <a:endParaRPr b="0" sz="15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0E0E0"/>
                </a:buClr>
                <a:buSzPts val="1500"/>
                <a:buFont typeface="Roboto"/>
                <a:buChar char="●"/>
              </a:pPr>
              <a:r>
                <a:rPr lang="en-US" sz="15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Minimize false detections in videos</a:t>
              </a:r>
              <a:endParaRPr b="0" sz="15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17377"/>
            <a:ext cx="52006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09600" y="2117377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strict, sequential algorithmic pipeline.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942975" y="2721173"/>
            <a:ext cx="48672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Built strictly in C++</a:t>
            </a: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utilizing the powerful OpenCV library for high-speed image processing.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42975" y="3521273"/>
            <a:ext cx="4867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Attribute Recognition</a:t>
            </a:r>
            <a:r>
              <a:rPr b="1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The system detects signs using fundamental color, shape, text, and symbol-based rules.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42975" y="4321373"/>
            <a:ext cx="48672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Transparent Logic: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Every detection can be traced back to a specific geometric or color calculation.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42975" y="5121473"/>
            <a:ext cx="48672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Real-world Application: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Designed to process standard RGB images into actionable traffic commands.</a:t>
            </a:r>
            <a:endParaRPr/>
          </a:p>
        </p:txBody>
      </p:sp>
      <p:pic>
        <p:nvPicPr>
          <p:cNvPr id="140" name="Google Shape;140;p17" title="Architecture Diagram.jpg"/>
          <p:cNvPicPr preferRelativeResize="0"/>
          <p:nvPr/>
        </p:nvPicPr>
        <p:blipFill rotWithShape="1">
          <a:blip r:embed="rId5">
            <a:alphaModFix/>
          </a:blip>
          <a:srcRect b="9930" l="4587" r="4587" t="16078"/>
          <a:stretch/>
        </p:blipFill>
        <p:spPr>
          <a:xfrm>
            <a:off x="6419850" y="2155477"/>
            <a:ext cx="5124450" cy="3543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09600" y="609600"/>
            <a:ext cx="115214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SYSTEM </a:t>
            </a:r>
            <a:r>
              <a:rPr b="0" i="0" lang="en-US" sz="3600" u="none" cap="none" strike="noStrike">
                <a:solidFill>
                  <a:srgbClr val="FFC107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ARCHITECTURE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609600" y="1381125"/>
            <a:ext cx="109728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274974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354984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434994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5150048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609600" y="609600"/>
            <a:ext cx="51606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STEP 1: COLOR </a:t>
            </a:r>
            <a:r>
              <a:rPr b="0" i="0" lang="en-US" sz="3600" u="none" cap="none" strike="noStrike">
                <a:solidFill>
                  <a:srgbClr val="F44336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MASKING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609600" y="1144650"/>
            <a:ext cx="4914900" cy="28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18"/>
          <p:cNvGrpSpPr/>
          <p:nvPr/>
        </p:nvGrpSpPr>
        <p:grpSpPr>
          <a:xfrm>
            <a:off x="609600" y="1314450"/>
            <a:ext cx="4914900" cy="2238375"/>
            <a:chOff x="609600" y="1790700"/>
            <a:chExt cx="4914900" cy="2238375"/>
          </a:xfrm>
        </p:grpSpPr>
        <p:pic>
          <p:nvPicPr>
            <p:cNvPr descr="image.png" id="155" name="Google Shape;155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1790700"/>
              <a:ext cx="4914900" cy="2238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18"/>
            <p:cNvSpPr txBox="1"/>
            <p:nvPr/>
          </p:nvSpPr>
          <p:spPr>
            <a:xfrm>
              <a:off x="895350" y="2047875"/>
              <a:ext cx="45906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44336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1. RGB TO HSV</a:t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895350" y="2562225"/>
              <a:ext cx="43719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Standard color spaces fail under varied lighting. We convert the image to HSV (Hue, Saturation, Value) to reliably isolate pure Red, Yellow, Green, and Blue.</a:t>
              </a:r>
              <a:endParaRPr/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609600" y="3771737"/>
            <a:ext cx="4914900" cy="2850092"/>
            <a:chOff x="609600" y="4219575"/>
            <a:chExt cx="4914900" cy="3209925"/>
          </a:xfrm>
        </p:grpSpPr>
        <p:pic>
          <p:nvPicPr>
            <p:cNvPr descr="image.png" id="159" name="Google Shape;159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9600" y="4219575"/>
              <a:ext cx="4914900" cy="3209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8"/>
            <p:cNvSpPr txBox="1"/>
            <p:nvPr/>
          </p:nvSpPr>
          <p:spPr>
            <a:xfrm>
              <a:off x="895350" y="4476750"/>
              <a:ext cx="4590600" cy="3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C107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2. MORPHOLOGICAL CLEANING</a:t>
              </a:r>
              <a:endParaRPr/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895350" y="4991100"/>
              <a:ext cx="4371900" cy="210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Raw masks are noisy. We deploy structural operations: 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i="0" lang="en-US" sz="1500" u="none" cap="none" strike="noStrike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Opening:</a:t>
              </a:r>
              <a:r>
                <a:rPr b="0" i="0" lang="en-US" sz="1500" u="none" cap="none" strike="noStrike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Erases small specks of noise on the asphalt.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i="0" lang="en-US" sz="1500" u="none" cap="none" strike="noStrike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Closing:</a:t>
              </a:r>
              <a:r>
                <a:rPr b="0" i="0" lang="en-US" sz="1500" u="none" cap="none" strike="noStrike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Fills structural gaps inside the sign boundaries.</a:t>
              </a:r>
              <a:endParaRPr/>
            </a:p>
          </p:txBody>
        </p:sp>
      </p:grpSp>
      <p:pic>
        <p:nvPicPr>
          <p:cNvPr id="162" name="Google Shape;162;p18"/>
          <p:cNvPicPr preferRelativeResize="0"/>
          <p:nvPr/>
        </p:nvPicPr>
        <p:blipFill rotWithShape="1">
          <a:blip r:embed="rId6">
            <a:alphaModFix/>
          </a:blip>
          <a:srcRect b="14446" l="0" r="0" t="6095"/>
          <a:stretch/>
        </p:blipFill>
        <p:spPr>
          <a:xfrm>
            <a:off x="6140650" y="0"/>
            <a:ext cx="3276693" cy="390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17350" y="2697563"/>
            <a:ext cx="2774725" cy="4162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4327500" y="4609174"/>
            <a:ext cx="437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2006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609600" y="1895475"/>
            <a:ext cx="5200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Once colors are isolated, we extract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contours</a:t>
            </a: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—the geometric boundaries of the colored regions.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42975" y="2828925"/>
            <a:ext cx="48672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Area Filtering: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Contours that are too small (noise) or too large (sky/background) are immediately discarded.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42975" y="3629025"/>
            <a:ext cx="48672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Geometric Ratios: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We calculate perimeter, bounding box aspect ratio, and circularity to classify octagons, triangles, and rectangles.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42975" y="4733925"/>
            <a:ext cx="48672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Hough Circle Transform: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Standard polygons aren't enough for traffic light bulbs and speed signs. We run a mathematical circle detection specifically on filtered candidates.</a:t>
            </a:r>
            <a:endParaRPr/>
          </a:p>
        </p:txBody>
      </p:sp>
      <p:pic>
        <p:nvPicPr>
          <p:cNvPr id="175" name="Google Shape;175;p19" title="red_stop.jpg"/>
          <p:cNvPicPr preferRelativeResize="0"/>
          <p:nvPr/>
        </p:nvPicPr>
        <p:blipFill rotWithShape="1">
          <a:blip r:embed="rId5">
            <a:alphaModFix/>
          </a:blip>
          <a:srcRect b="3909" l="0" r="0" t="3900"/>
          <a:stretch/>
        </p:blipFill>
        <p:spPr>
          <a:xfrm>
            <a:off x="6419850" y="1933575"/>
            <a:ext cx="51244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09600" y="609600"/>
            <a:ext cx="115214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STEP 2: SHAPE &amp; </a:t>
            </a:r>
            <a:r>
              <a:rPr b="0" i="0" lang="en-US" sz="3600" u="none" cap="none" strike="noStrike">
                <a:solidFill>
                  <a:srgbClr val="4CAF5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CONTOURS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609600" y="1381125"/>
            <a:ext cx="109728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2857500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3657600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4762500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9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790700"/>
            <a:ext cx="49149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609600" y="609600"/>
            <a:ext cx="51606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STEP 3: TEXT </a:t>
            </a:r>
            <a:r>
              <a:rPr b="0" i="0" lang="en-US" sz="3600" u="none" cap="none" strike="noStrike">
                <a:solidFill>
                  <a:srgbClr val="FFC107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READING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609600" y="1381125"/>
            <a:ext cx="49149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0" title="blue_info.jpg"/>
          <p:cNvPicPr preferRelativeResize="0"/>
          <p:nvPr/>
        </p:nvPicPr>
        <p:blipFill rotWithShape="1">
          <a:blip r:embed="rId5">
            <a:alphaModFix/>
          </a:blip>
          <a:srcRect b="11391" l="0" r="0" t="11383"/>
          <a:stretch/>
        </p:blipFill>
        <p:spPr>
          <a:xfrm>
            <a:off x="6272975" y="220475"/>
            <a:ext cx="5566250" cy="62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895350" y="2047875"/>
            <a:ext cx="459057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TEMPLATE MATCHING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95350" y="2562225"/>
            <a:ext cx="4371975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To read simple text and identify strict symbols, the system analyzes the dark pixels inside the established bounding box.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895350" y="3771900"/>
            <a:ext cx="43719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We use classical OpenCV template matching to identify: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400175" y="4657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466850" y="4657725"/>
            <a:ext cx="3800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Speed limit digits (e.g., 50, 60, 80)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400175" y="49625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466850" y="4962525"/>
            <a:ext cx="3800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Regulatory words (STOP, YIELD)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400175" y="52673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466850" y="5267325"/>
            <a:ext cx="3800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Navigational symbols (Arrows, Crosses, Slashes)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640359"/>
            <a:ext cx="3467100" cy="3379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2450" y="2640359"/>
            <a:ext cx="3467100" cy="3379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5300" y="2640359"/>
            <a:ext cx="3467100" cy="3379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849909"/>
            <a:ext cx="30480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2849909"/>
            <a:ext cx="30480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4850" y="2849909"/>
            <a:ext cx="3048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609600" y="2019448"/>
            <a:ext cx="10972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The pipeline locks in a classification only when Color + Shape + Internal Text requirements are met.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19150" y="5135909"/>
            <a:ext cx="304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Red + Octagon + "STOP"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19150" y="5518695"/>
            <a:ext cx="3048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STOP SIGN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572000" y="5135909"/>
            <a:ext cx="304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Circle/Rect + Number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572000" y="5518695"/>
            <a:ext cx="3048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SPEED LIMIT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324850" y="5135909"/>
            <a:ext cx="304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Green + Hough Circle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324850" y="5518695"/>
            <a:ext cx="3048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GO STATE</a:t>
            </a:r>
            <a:endParaRPr/>
          </a:p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10">
            <a:alphaModFix/>
          </a:blip>
          <a:srcRect b="0" l="5214" r="5205" t="0"/>
          <a:stretch/>
        </p:blipFill>
        <p:spPr>
          <a:xfrm>
            <a:off x="838200" y="2868959"/>
            <a:ext cx="30099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 rotWithShape="1">
          <a:blip r:embed="rId11">
            <a:alphaModFix/>
          </a:blip>
          <a:srcRect b="0" l="5214" r="5205" t="0"/>
          <a:stretch/>
        </p:blipFill>
        <p:spPr>
          <a:xfrm>
            <a:off x="4591050" y="2868959"/>
            <a:ext cx="30099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43900" y="2871134"/>
            <a:ext cx="3009900" cy="205304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609600" y="609600"/>
            <a:ext cx="115214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STEP 4: RULE-BASED </a:t>
            </a:r>
            <a:r>
              <a:rPr b="0" i="0" lang="en-US" sz="3600" u="none" cap="none" strike="noStrike">
                <a:solidFill>
                  <a:srgbClr val="4CAF5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DETECTION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609600" y="1381125"/>
            <a:ext cx="109728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5612" y="1419225"/>
            <a:ext cx="6200775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0" y="1924050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3370659" y="3495675"/>
            <a:ext cx="54507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ROAD SIGN </a:t>
            </a:r>
            <a:r>
              <a:rPr b="0" i="0" lang="en-US" sz="525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DEMO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3500437" y="4486275"/>
            <a:ext cx="5191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CLICK TO PLAY VIDEO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title="RoadSignDetection_Final Project_CSS49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038" y="0"/>
            <a:ext cx="11581927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5612" y="1419225"/>
            <a:ext cx="6200774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0" y="1924050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3370659" y="3495675"/>
            <a:ext cx="5450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0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TRAFFIC LIGHT </a:t>
            </a:r>
            <a:r>
              <a:rPr b="0" i="0" lang="en-US" sz="505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DEMO</a:t>
            </a:r>
            <a:endParaRPr sz="1200"/>
          </a:p>
        </p:txBody>
      </p:sp>
      <p:sp>
        <p:nvSpPr>
          <p:cNvPr id="244" name="Google Shape;244;p24"/>
          <p:cNvSpPr txBox="1"/>
          <p:nvPr/>
        </p:nvSpPr>
        <p:spPr>
          <a:xfrm>
            <a:off x="3500437" y="4486275"/>
            <a:ext cx="519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CLICK TO PLAY VIDEO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title="Demo_CSS_487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55" y="-1"/>
            <a:ext cx="116435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26"/>
          <p:cNvGrpSpPr/>
          <p:nvPr/>
        </p:nvGrpSpPr>
        <p:grpSpPr>
          <a:xfrm>
            <a:off x="1295400" y="672553"/>
            <a:ext cx="9601200" cy="6065107"/>
            <a:chOff x="1333500" y="987028"/>
            <a:chExt cx="9601200" cy="6065107"/>
          </a:xfrm>
        </p:grpSpPr>
        <p:sp>
          <p:nvSpPr>
            <p:cNvPr id="256" name="Google Shape;256;p26"/>
            <p:cNvSpPr/>
            <p:nvPr/>
          </p:nvSpPr>
          <p:spPr>
            <a:xfrm>
              <a:off x="1333500" y="987028"/>
              <a:ext cx="76200" cy="1373385"/>
            </a:xfrm>
            <a:prstGeom prst="rect">
              <a:avLst/>
            </a:prstGeom>
            <a:solidFill>
              <a:srgbClr val="FFC1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1333500" y="2550914"/>
              <a:ext cx="76200" cy="1373385"/>
            </a:xfrm>
            <a:prstGeom prst="rect">
              <a:avLst/>
            </a:prstGeom>
            <a:solidFill>
              <a:srgbClr val="FFC1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1333500" y="4114800"/>
              <a:ext cx="76200" cy="1373385"/>
            </a:xfrm>
            <a:prstGeom prst="rect">
              <a:avLst/>
            </a:prstGeom>
            <a:solidFill>
              <a:srgbClr val="FFC1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1333500" y="5678685"/>
              <a:ext cx="76200" cy="1373385"/>
            </a:xfrm>
            <a:prstGeom prst="rect">
              <a:avLst/>
            </a:prstGeom>
            <a:solidFill>
              <a:srgbClr val="FFC1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1409700" y="987028"/>
              <a:ext cx="9525000" cy="1373400"/>
            </a:xfrm>
            <a:prstGeom prst="roundRect">
              <a:avLst>
                <a:gd fmla="val 4161" name="adj"/>
              </a:avLst>
            </a:prstGeom>
            <a:solidFill>
              <a:srgbClr val="1F1F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6"/>
            <p:cNvSpPr txBox="1"/>
            <p:nvPr/>
          </p:nvSpPr>
          <p:spPr>
            <a:xfrm>
              <a:off x="2000250" y="1177528"/>
              <a:ext cx="85725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Highly Explainable Logic</a:t>
              </a:r>
              <a:r>
                <a:rPr b="0" i="0" lang="en-US" sz="1500" u="none" cap="none" strike="noStrike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Unlike black box neural networks, every detection in our C++ pipeline stems from a traceable geometric or color calculation. It is completely transparent.</a:t>
              </a: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1409700" y="2550914"/>
              <a:ext cx="9525000" cy="1373400"/>
            </a:xfrm>
            <a:prstGeom prst="roundRect">
              <a:avLst>
                <a:gd fmla="val 4161" name="adj"/>
              </a:avLst>
            </a:prstGeom>
            <a:solidFill>
              <a:srgbClr val="1F1F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6"/>
            <p:cNvSpPr txBox="1"/>
            <p:nvPr/>
          </p:nvSpPr>
          <p:spPr>
            <a:xfrm>
              <a:off x="2000250" y="2741414"/>
              <a:ext cx="85725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Sensitivity to Lighting</a:t>
              </a:r>
              <a:r>
                <a:rPr b="0" i="0" lang="en-US" sz="1500" u="none" cap="none" strike="noStrike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Because the system relies heavily on pure HSV thresholds, it struggles significantly with poor lighting, heavy shadows, and night time driving scenarios.</a:t>
              </a: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1409700" y="4114813"/>
              <a:ext cx="9525000" cy="1373400"/>
            </a:xfrm>
            <a:prstGeom prst="roundRect">
              <a:avLst>
                <a:gd fmla="val 4161" name="adj"/>
              </a:avLst>
            </a:prstGeom>
            <a:solidFill>
              <a:srgbClr val="1F1F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6"/>
            <p:cNvSpPr txBox="1"/>
            <p:nvPr/>
          </p:nvSpPr>
          <p:spPr>
            <a:xfrm>
              <a:off x="2000250" y="4305300"/>
              <a:ext cx="85725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Vulnerability to Motion &amp; Angles</a:t>
              </a:r>
              <a:r>
                <a:rPr b="0" i="0" lang="en-US" sz="1500" u="none" cap="none" strike="noStrike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Motion blur from the car, unusual camera angles, or partially blocked signs distort the object's contours, ruining template matching capabilities.</a:t>
              </a: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1409700" y="5678735"/>
              <a:ext cx="9525000" cy="1373400"/>
            </a:xfrm>
            <a:prstGeom prst="roundRect">
              <a:avLst>
                <a:gd fmla="val 4161" name="adj"/>
              </a:avLst>
            </a:prstGeom>
            <a:solidFill>
              <a:srgbClr val="1F1F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26"/>
            <p:cNvSpPr txBox="1"/>
            <p:nvPr/>
          </p:nvSpPr>
          <p:spPr>
            <a:xfrm>
              <a:off x="2000250" y="5869185"/>
              <a:ext cx="85725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Algorithmic Foundations</a:t>
              </a:r>
              <a:r>
                <a:rPr b="0" i="0" lang="en-US" sz="1500" u="none" cap="none" strike="noStrike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While modern ML is superior for production, building this pipeline manually provides an indispensable understanding of core image processing fundamentals.</a:t>
              </a:r>
              <a:endParaRPr/>
            </a:p>
          </p:txBody>
        </p:sp>
        <p:pic>
          <p:nvPicPr>
            <p:cNvPr descr="image.png" id="268" name="Google Shape;268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52575" y="1478458"/>
              <a:ext cx="171450" cy="20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69" name="Google Shape;269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52575" y="3042344"/>
              <a:ext cx="190500" cy="20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70" name="Google Shape;270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52575" y="4606230"/>
              <a:ext cx="238125" cy="20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71" name="Google Shape;271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52575" y="6170116"/>
              <a:ext cx="238125" cy="200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2" name="Google Shape;272;p26"/>
          <p:cNvSpPr txBox="1"/>
          <p:nvPr/>
        </p:nvSpPr>
        <p:spPr>
          <a:xfrm>
            <a:off x="977400" y="51925"/>
            <a:ext cx="359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LESSONS </a:t>
            </a:r>
            <a:r>
              <a:rPr b="0" i="0" lang="en-US" sz="3600" u="none" cap="none" strike="noStrike">
                <a:solidFill>
                  <a:srgbClr val="F44336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LEARNED</a:t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609600" y="577453"/>
            <a:ext cx="109728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272480"/>
            <a:ext cx="7620000" cy="431289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2935605" y="2072580"/>
            <a:ext cx="632079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END OF ROUTE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3086100" y="3672780"/>
            <a:ext cx="60198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Any Questions?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3086100" y="4480470"/>
            <a:ext cx="601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CSS 497 • COMPUTER VISION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609600" y="1571029"/>
            <a:ext cx="109728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609600" y="2355800"/>
            <a:ext cx="109728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609600" y="3140571"/>
            <a:ext cx="109728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609600" y="3925341"/>
            <a:ext cx="109728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609600" y="4908202"/>
            <a:ext cx="109728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609600" y="2346275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609600" y="2346275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609600" y="3131046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609600" y="3131046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609600" y="3915816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609600" y="3915816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609600" y="4898677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609600" y="4898677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609600" y="5683448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609600" y="5683448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3" name="Google Shape;30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7204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8"/>
          <p:cNvSpPr txBox="1"/>
          <p:nvPr/>
        </p:nvSpPr>
        <p:spPr>
          <a:xfrm>
            <a:off x="1704975" y="1713904"/>
            <a:ext cx="98774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https://miro.medium.com/v2/resize:fit:1400/1*SLqwl7kfDJJaMKtjsXlsFQ.jpeg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1704975" y="1959619"/>
            <a:ext cx="9877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medium.com</a:t>
            </a:r>
            <a:endParaRPr/>
          </a:p>
        </p:txBody>
      </p:sp>
      <p:pic>
        <p:nvPicPr>
          <p:cNvPr descr="image.png" id="306" name="Google Shape;30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5052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8"/>
          <p:cNvSpPr txBox="1"/>
          <p:nvPr/>
        </p:nvSpPr>
        <p:spPr>
          <a:xfrm>
            <a:off x="1704975" y="2498675"/>
            <a:ext cx="98774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https://miro.medium.com/1*NTI0ce3e1chzhHmBxTzjsw.png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1704975" y="2744390"/>
            <a:ext cx="9877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medium.com</a:t>
            </a:r>
            <a:endParaRPr/>
          </a:p>
        </p:txBody>
      </p:sp>
      <p:pic>
        <p:nvPicPr>
          <p:cNvPr descr="image.png" id="309" name="Google Shape;30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32899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8"/>
          <p:cNvSpPr txBox="1"/>
          <p:nvPr/>
        </p:nvSpPr>
        <p:spPr>
          <a:xfrm>
            <a:off x="1704975" y="3283446"/>
            <a:ext cx="98774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https://cdn.prod.website-files.com/65855f99c571eeb322e2b933/693a3c4c462a1b4499c8775a_bounding-box-hero.jpeg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1704975" y="3529161"/>
            <a:ext cx="9877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www.sama.com</a:t>
            </a:r>
            <a:endParaRPr/>
          </a:p>
        </p:txBody>
      </p:sp>
      <p:pic>
        <p:nvPicPr>
          <p:cNvPr descr="image.png" id="312" name="Google Shape;31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41738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8"/>
          <p:cNvSpPr txBox="1"/>
          <p:nvPr/>
        </p:nvSpPr>
        <p:spPr>
          <a:xfrm>
            <a:off x="1704975" y="4068216"/>
            <a:ext cx="98774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https://preview.redd.it/open-source-ocr-models-2026-to-fine-tune-for-dot-peen-on-v0-mrvtqwt5mr4h1.jpg?width=640&amp;crop=smart&amp;auto=webp&amp;s=8f834f9f9e996d420a553eedb959ae8577ceb34f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1704975" y="4512022"/>
            <a:ext cx="9877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www.reddit.com</a:t>
            </a:r>
            <a:endParaRPr/>
          </a:p>
        </p:txBody>
      </p:sp>
      <p:pic>
        <p:nvPicPr>
          <p:cNvPr descr="image.png" id="315" name="Google Shape;315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50576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 txBox="1"/>
          <p:nvPr/>
        </p:nvSpPr>
        <p:spPr>
          <a:xfrm>
            <a:off x="1704975" y="5051077"/>
            <a:ext cx="98774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https://source.roboflow.com/y3makLU5XIPaEBAcTaJ8YQqYmnA3/00qzEq2xtXfI35uiL1LB/thumb.jpg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1704975" y="5296792"/>
            <a:ext cx="9877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universe.roboflow.com</a:t>
            </a:r>
            <a:endParaRPr/>
          </a:p>
        </p:txBody>
      </p:sp>
      <p:pic>
        <p:nvPicPr>
          <p:cNvPr descr="image.png" id="318" name="Google Shape;318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9600" y="58423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8"/>
          <p:cNvSpPr txBox="1"/>
          <p:nvPr/>
        </p:nvSpPr>
        <p:spPr>
          <a:xfrm>
            <a:off x="1704975" y="5835848"/>
            <a:ext cx="98774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https://dss-www-production.s3.amazonaws.com/uploads/2023/12/maxresdefault-1.jpg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1704975" y="6081563"/>
            <a:ext cx="9877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www.datasciencesociety.net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609600" y="389929"/>
            <a:ext cx="115214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IMAGE SOURCES</a:t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609600" y="1161454"/>
            <a:ext cx="109728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/>
          <p:nvPr/>
        </p:nvSpPr>
        <p:spPr>
          <a:xfrm>
            <a:off x="609600" y="2550021"/>
            <a:ext cx="109728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609600" y="3532882"/>
            <a:ext cx="109728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609600" y="3523357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609600" y="3523357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609600" y="4506217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609600" y="4506217"/>
            <a:ext cx="10972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4" name="Google Shape;33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7985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9"/>
          <p:cNvSpPr txBox="1"/>
          <p:nvPr/>
        </p:nvSpPr>
        <p:spPr>
          <a:xfrm>
            <a:off x="1704975" y="2692896"/>
            <a:ext cx="98774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https://kajabi-storefronts-production.kajabi-cdn.com/kajabi-storefronts-production/file-uploads/blogs/22606/images/4b8e478-d6da-bbe4-adde-3546fe0e2b_ezgif.com-gif-maker_7_.gif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1704975" y="3136701"/>
            <a:ext cx="9877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www.augmentedstartups.com</a:t>
            </a:r>
            <a:endParaRPr/>
          </a:p>
        </p:txBody>
      </p:sp>
      <p:pic>
        <p:nvPicPr>
          <p:cNvPr descr="image.png" id="337" name="Google Shape;33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37814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/>
          <p:nvPr/>
        </p:nvSpPr>
        <p:spPr>
          <a:xfrm>
            <a:off x="1704975" y="3675757"/>
            <a:ext cx="98774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https://images.unsplash.com/photo-1559376443-565ca7e29a38?fm=jpg&amp;q=60&amp;w=3000&amp;auto=format&amp;fit=crop&amp;ixlib=rb-4.1.0&amp;ixid=M3wxMjA3fDB8MHxwaG90by1yZWxhdGVkfDE0fHx8ZW58MHx8fHx8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1704975" y="4119562"/>
            <a:ext cx="9877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unsplash.com</a:t>
            </a:r>
            <a:endParaRPr/>
          </a:p>
        </p:txBody>
      </p:sp>
      <p:pic>
        <p:nvPicPr>
          <p:cNvPr descr="image.png" id="340" name="Google Shape;34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47642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9"/>
          <p:cNvSpPr txBox="1"/>
          <p:nvPr/>
        </p:nvSpPr>
        <p:spPr>
          <a:xfrm>
            <a:off x="1704975" y="4658617"/>
            <a:ext cx="98774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https://external-preview.redd.it/dash-cam-just-two-dumdums-on-the-road-one-who-doesnt-use-v0-cR855D5ZaQMp9W2-T7vlzsFrd_uaRXXXTfhhWqsfXkw.png?format=pjpg&amp;auto=webp&amp;s=64086d4acb9ff898c26dd4fcf591a68c1c78d865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1704975" y="5102423"/>
            <a:ext cx="9877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www.reddit.com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609600" y="609600"/>
            <a:ext cx="115214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IMAGE SOURCES</a:t>
            </a:r>
            <a:endParaRPr/>
          </a:p>
        </p:txBody>
      </p:sp>
      <p:sp>
        <p:nvSpPr>
          <p:cNvPr id="344" name="Google Shape;344;p29"/>
          <p:cNvSpPr/>
          <p:nvPr/>
        </p:nvSpPr>
        <p:spPr>
          <a:xfrm>
            <a:off x="609600" y="1381125"/>
            <a:ext cx="109728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242424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9" name="Google Shape;34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25" y="1790700"/>
            <a:ext cx="109728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1158180" y="5391150"/>
            <a:ext cx="98754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High contrast, standardized signs yield the highest accuracy. Performance drops on complex symbols due to the rigid nature of classical template matching.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609600" y="609600"/>
            <a:ext cx="115214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SYSTEM </a:t>
            </a:r>
            <a:r>
              <a:rPr b="0" i="0" lang="en-US" sz="3600" u="none" cap="none" strike="noStrike">
                <a:solidFill>
                  <a:srgbClr val="FFC107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ACCURACY METRICS</a:t>
            </a:r>
            <a:endParaRPr/>
          </a:p>
        </p:txBody>
      </p:sp>
      <p:sp>
        <p:nvSpPr>
          <p:cNvPr id="353" name="Google Shape;353;p30"/>
          <p:cNvSpPr/>
          <p:nvPr/>
        </p:nvSpPr>
        <p:spPr>
          <a:xfrm>
            <a:off x="609600" y="1381125"/>
            <a:ext cx="109728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